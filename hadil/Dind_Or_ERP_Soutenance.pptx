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2743200"/>
            <a:ext cx="6400800" cy="6400800"/>
          </a:xfrm>
          <a:prstGeom prst="ellipse">
            <a:avLst/>
          </a:prstGeom>
          <a:solidFill>
            <a:srgbClr val="D4A437">
              <a:alpha val="15000"/>
            </a:srgbClr>
          </a:solidFill>
          <a:ln w="12700">
            <a:solidFill>
              <a:srgbClr val="D4A43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D4A437">
              <a:alpha val="12000"/>
            </a:srgbClr>
          </a:solidFill>
          <a:ln w="12700">
            <a:solidFill>
              <a:srgbClr val="D4A43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77240"/>
            <a:ext cx="201168" cy="20116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C46A"/>
                </a:solidFill>
              </a:rPr>
              <a:t>PROJET DE FIN D'ÉTUDES  —  SOUTENANCE TECHNIQUE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Dind'Or ERP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Augmenté par l'Intelligence Artificielle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05840" cy="6400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03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gestion intégré + Prédiction des prix d'achat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303520"/>
            <a:ext cx="4572000" cy="54864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437"/>
                </a:solidFill>
              </a:rPr>
              <a:t>PRÉSENTÉ PAR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Hadil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F6EE"/>
                </a:solidFill>
              </a:rPr>
              <a:t>Étudiante en ingénierie informatique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5303520"/>
            <a:ext cx="4572000" cy="54864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5440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D4A437"/>
                </a:solidFill>
              </a:rPr>
              <a:t>ANNÉE UNIVERSITAIRE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49440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2025 — 2026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AF6EE"/>
                </a:solidFill>
              </a:rPr>
              <a:t>Entreprise d'accueil : Dind'Or  ·  Tunisie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37"/>
                </a:solidFill>
              </a:rPr>
              <a:t>SOMMAIRE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502920" cy="6400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35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91440" cy="77724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00200" y="2029968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Présentation du projet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35915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Entreprise et contexte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5060" y="1920240"/>
            <a:ext cx="54635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5060" y="1920240"/>
            <a:ext cx="91440" cy="77724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3660" y="19933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292340" y="2029968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Problématique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92340" y="235915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Le défi métier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54635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880360"/>
            <a:ext cx="91440" cy="77724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535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00200" y="2990088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Solution proposée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331927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ERP + Intelligence Artificielle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5060" y="2880360"/>
            <a:ext cx="54635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5060" y="2880360"/>
            <a:ext cx="91440" cy="77724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3660" y="29535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292340" y="2990088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Environnement de travail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92340" y="331927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Stack technologique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54635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840480"/>
            <a:ext cx="91440" cy="77724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9136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600200" y="3950208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Architecture technique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0200" y="427939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3 couches + microservice 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5060" y="3840480"/>
            <a:ext cx="54635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5060" y="3840480"/>
            <a:ext cx="91440" cy="77724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3660" y="39136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7292340" y="3950208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Méthodologie SCRUM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92340" y="427939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Sprints et organisation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800600"/>
            <a:ext cx="54635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4800600"/>
            <a:ext cx="91440" cy="77724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8737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1600200" y="4910328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Cas d'utilisation global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600200" y="523951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Diagramme UML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95060" y="4800600"/>
            <a:ext cx="54635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95060" y="4800600"/>
            <a:ext cx="91440" cy="77724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3660" y="487375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7292340" y="4910328"/>
            <a:ext cx="4183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Conclusion &amp; perspectives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92340" y="5239512"/>
            <a:ext cx="4183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Bilan du projet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37"/>
                </a:solidFill>
              </a:rPr>
              <a:t>01  |  PRÉSENTATION DU PROJET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502920" cy="6400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entreprise tunisienne, un projet ambitieux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20240"/>
            <a:ext cx="548640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437"/>
                </a:solidFill>
              </a:rPr>
              <a:t>L'ENTREPRISE D'ACCUEIL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862072"/>
            <a:ext cx="146304" cy="146304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568"/>
                </a:solidFill>
              </a:rPr>
              <a:t>NOM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Dind'Or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364992"/>
            <a:ext cx="146304" cy="146304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568"/>
                </a:solidFill>
              </a:rPr>
              <a:t>SECTEUR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Agro-alimentaire — Volaille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867912"/>
            <a:ext cx="146304" cy="146304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568"/>
                </a:solidFill>
              </a:rPr>
              <a:t>ACTIVITÉ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Achat, transformation, distribution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370832"/>
            <a:ext cx="146304" cy="146304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568"/>
                </a:solidFill>
              </a:rPr>
              <a:t>LOCALISATION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4251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Tunisie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873752"/>
            <a:ext cx="146304" cy="146304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568"/>
                </a:solidFill>
              </a:rPr>
              <a:t>CLIENTS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Restaurants, grossistes, particuliers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5376672"/>
            <a:ext cx="146304" cy="146304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257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5568"/>
                </a:solidFill>
              </a:rPr>
              <a:t>EFFECTIF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5257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</a:rPr>
              <a:t>PME — équipe restreinte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1920240"/>
            <a:ext cx="5394960" cy="4114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286000"/>
            <a:ext cx="640080" cy="6400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406640" y="2240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437"/>
                </a:solidFill>
              </a:rPr>
              <a:t>LE PROJET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406640" y="2514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 ERP intelligent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6629400" y="3337560"/>
            <a:ext cx="457200" cy="4572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352044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6EE"/>
                </a:solidFill>
              </a:rPr>
              <a:t>Concevoir et déployer un système de gestion intégré couvrant tous les processus de Dind'Or — des achats fournisseurs jusqu'à l'encaissement client — enrichi par un module d'intelligence artificielle prédisant l'évolution des prix de la volaille pour aider la direction à acheter au meilleur moment.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spc="300" kern="0" dirty="0">
                <a:solidFill>
                  <a:srgbClr val="D4A437"/>
                </a:solidFill>
              </a:rPr>
              <a:t>PME  ·  AGRO-ALIMENTAIRE  ·  TRANSFORMATION DIGITALE  ·  IA APPLIQUÉE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37"/>
                </a:solidFill>
              </a:rPr>
              <a:t>02  |  PROBLÉMATIQUE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502920" cy="6400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d'achat de la volaille est imprévisible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64922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6492240" cy="4572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437"/>
                </a:solidFill>
              </a:rPr>
              <a:t>CAUSES DE L'INSTABILITÉ DES PRIX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603504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14600"/>
            <a:ext cx="73152" cy="59436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Ramadan &amp; Aïd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Facteur saisonnier majeur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2633472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26334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+15% à +30%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27832"/>
            <a:ext cx="603504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227832"/>
            <a:ext cx="73152" cy="59436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Été (juillet–août)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Coût d'élevage élevé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49240" y="3346704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334670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+10% à +15%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941064"/>
            <a:ext cx="603504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41064"/>
            <a:ext cx="73152" cy="59436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986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Vacances scolaires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Consommation accrue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4059936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405993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+5% à +8%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654296"/>
            <a:ext cx="603504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654296"/>
            <a:ext cx="73152" cy="59436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700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Marché hebdomadaire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946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Fluctuations offre/demande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477316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477316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Imprévisible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5367528"/>
            <a:ext cx="603504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5367528"/>
            <a:ext cx="73152" cy="59436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413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Coût des intrants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0120" y="5660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Aliments, énergie, transport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49240" y="548640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C04A3D"/>
          </a:solidFill>
          <a:ln w="12700">
            <a:solidFill>
              <a:srgbClr val="C04A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5486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78040" y="1828800"/>
            <a:ext cx="4480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148840"/>
            <a:ext cx="457200" cy="45720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809244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4A3D"/>
                </a:solidFill>
              </a:rPr>
              <a:t>CONSÉQUENCE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092440" y="2377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</a:rPr>
              <a:t>Décisions à l'instinct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7498080" y="2926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Achats au mauvais moment, ruptures de stock ou surstock, aucun historique structuré pour décider.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7178040" y="4114800"/>
            <a:ext cx="4480560" cy="2286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49808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437"/>
                </a:solidFill>
              </a:rPr>
              <a:t>IMPACT FINANCIER ESTIMÉ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498080" y="4572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12 600 DT</a:t>
            </a:r>
            <a:endParaRPr lang="en-US" sz="5400" dirty="0"/>
          </a:p>
        </p:txBody>
      </p:sp>
      <p:sp>
        <p:nvSpPr>
          <p:cNvPr id="46" name="Text 43"/>
          <p:cNvSpPr/>
          <p:nvPr/>
        </p:nvSpPr>
        <p:spPr>
          <a:xfrm>
            <a:off x="7498080" y="5440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</a:rPr>
              <a:t>de marge perdue par an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7498080" y="5760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6EE"/>
                </a:solidFill>
              </a:rPr>
              <a:t>≈ 350 DT × 36 commandes / an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37"/>
                </a:solidFill>
              </a:rPr>
              <a:t>03  |  SOLUTION PROPOSÉE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502920" cy="6400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ERP complet + une IA d'aide à la décision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5486400" cy="4572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437"/>
                </a:solidFill>
              </a:rPr>
              <a:t>PARTIE 1  —  ERP CLASSIQUE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502920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633472"/>
            <a:ext cx="365760" cy="3657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</a:rPr>
              <a:t>1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65176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7452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</a:rPr>
              <a:t>Achats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874520" y="2825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Factures fournisseurs · paiements multi-modes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227832"/>
            <a:ext cx="502920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3346704"/>
            <a:ext cx="365760" cy="3657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</a:rPr>
              <a:t>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364992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74520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</a:rPr>
              <a:t>Ventes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874520" y="3538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Bons de livraison · facturation · encaissements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31520" y="3941064"/>
            <a:ext cx="502920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8680" y="4059936"/>
            <a:ext cx="365760" cy="3657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</a:rPr>
              <a:t>3</a:t>
            </a:r>
            <a:endParaRPr lang="en-US" sz="1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4078224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874520" y="39867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</a:rPr>
              <a:t>Stock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87452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Mouvements · seuil mini · PUMP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31520" y="4654296"/>
            <a:ext cx="502920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68680" y="4773168"/>
            <a:ext cx="365760" cy="3657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6868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</a:rPr>
              <a:t>4</a:t>
            </a:r>
            <a:endParaRPr lang="en-US" sz="14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791456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874520" y="47000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</a:rPr>
              <a:t>RH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874520" y="4965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Fiches employés · pointage · congés · paie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31520" y="5367528"/>
            <a:ext cx="5029200" cy="59436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68680" y="5486400"/>
            <a:ext cx="365760" cy="3657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6868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437"/>
                </a:solidFill>
              </a:rPr>
              <a:t>5</a:t>
            </a:r>
            <a:endParaRPr lang="en-US" sz="14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5504688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874520" y="5413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</a:rPr>
              <a:t>Portail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1874520" y="5678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Admin / Client / Employé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263640" y="1828800"/>
            <a:ext cx="5394960" cy="45720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194560"/>
            <a:ext cx="548640" cy="5486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269480" y="2148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437"/>
                </a:solidFill>
              </a:rPr>
              <a:t>PARTIE 2  —  MODULE IA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726948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Prédiction des prix d'achat</a:t>
            </a:r>
            <a:endParaRPr lang="en-US" sz="2000" dirty="0"/>
          </a:p>
        </p:txBody>
      </p:sp>
      <p:sp>
        <p:nvSpPr>
          <p:cNvPr id="42" name="Shape 34"/>
          <p:cNvSpPr/>
          <p:nvPr/>
        </p:nvSpPr>
        <p:spPr>
          <a:xfrm>
            <a:off x="6629400" y="3200400"/>
            <a:ext cx="548640" cy="4572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629400" y="3557016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858000" y="3429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437"/>
                </a:solidFill>
              </a:rPr>
              <a:t>MODÈLE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836676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Gradient Boosting Regressor — 22 variables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6629400" y="4105656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685800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437"/>
                </a:solidFill>
              </a:rPr>
              <a:t>HORIZONS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836676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Prédictions à 7, 15 et 30 jours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6629400" y="4654296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858000" y="4526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437"/>
                </a:solidFill>
              </a:rPr>
              <a:t>SAISONNALITÉ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8366760" y="4526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Calendrier tunisien : Ramadan, Aïd, été</a:t>
            </a:r>
            <a:endParaRPr lang="en-US" sz="1300" dirty="0"/>
          </a:p>
        </p:txBody>
      </p:sp>
      <p:sp>
        <p:nvSpPr>
          <p:cNvPr id="52" name="Shape 44"/>
          <p:cNvSpPr/>
          <p:nvPr/>
        </p:nvSpPr>
        <p:spPr>
          <a:xfrm>
            <a:off x="6629400" y="5202936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6858000" y="5074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437"/>
                </a:solidFill>
              </a:rPr>
              <a:t>RECOMMANDATION</a:t>
            </a:r>
            <a:endParaRPr lang="en-US" sz="1000" dirty="0"/>
          </a:p>
        </p:txBody>
      </p:sp>
      <p:sp>
        <p:nvSpPr>
          <p:cNvPr id="54" name="Text 46"/>
          <p:cNvSpPr/>
          <p:nvPr/>
        </p:nvSpPr>
        <p:spPr>
          <a:xfrm>
            <a:off x="8366760" y="5074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Buy maintenant  /  Hold (attendre)</a:t>
            </a:r>
            <a:endParaRPr lang="en-US" sz="1300" dirty="0"/>
          </a:p>
        </p:txBody>
      </p:sp>
      <p:sp>
        <p:nvSpPr>
          <p:cNvPr id="55" name="Shape 47"/>
          <p:cNvSpPr/>
          <p:nvPr/>
        </p:nvSpPr>
        <p:spPr>
          <a:xfrm>
            <a:off x="6629400" y="5751576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6858000" y="5623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A437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836676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Walk-forward (MAE, MAPE, précision dir.)</a:t>
            </a:r>
            <a:endParaRPr lang="en-US" sz="1300" dirty="0"/>
          </a:p>
        </p:txBody>
      </p:sp>
      <p:sp>
        <p:nvSpPr>
          <p:cNvPr id="58" name="Text 50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37"/>
                </a:solidFill>
              </a:rPr>
              <a:t>04  |  ENVIRONNEMENT DE TRAVAIL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502920" cy="6400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et technologies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1747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261747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437"/>
                </a:solidFill>
              </a:rPr>
              <a:t>FRONTEND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735" y="2651760"/>
            <a:ext cx="1005840" cy="1005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38862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8862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Angular 19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43434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3434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TypeScript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8006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8006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52578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52578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RxJS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48990" y="1828800"/>
            <a:ext cx="261747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48990" y="1828800"/>
            <a:ext cx="261747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31870" y="182880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437"/>
                </a:solidFill>
              </a:rPr>
              <a:t>BACKEND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805" y="2651760"/>
            <a:ext cx="1005840" cy="10058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623310" y="38862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23310" y="38862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Spring Boot 3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623310" y="43434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23310" y="43434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Java 17+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623310" y="48006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23310" y="48006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JWT Security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623310" y="52578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23310" y="52578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REST API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195060" y="1828800"/>
            <a:ext cx="261747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95060" y="1828800"/>
            <a:ext cx="261747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77940" y="182880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437"/>
                </a:solidFill>
              </a:rPr>
              <a:t>DONNÉES &amp; IA</a:t>
            </a:r>
            <a:endParaRPr lang="en-US" sz="13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5" y="2651760"/>
            <a:ext cx="1005840" cy="100584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469380" y="38862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69380" y="38862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MySQL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469380" y="43434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69380" y="43434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Python FastAPI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6469380" y="48006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69380" y="48006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6469380" y="52578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469380" y="52578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Pandas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9041130" y="1828800"/>
            <a:ext cx="261747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9041130" y="1828800"/>
            <a:ext cx="261747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9224010" y="1828800"/>
            <a:ext cx="22517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437"/>
                </a:solidFill>
              </a:rPr>
              <a:t>OUTILS</a:t>
            </a:r>
            <a:endParaRPr lang="en-US" sz="13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945" y="2651760"/>
            <a:ext cx="1005840" cy="1005840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9315450" y="38862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9315450" y="38862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</a:rPr>
              <a:t>Git / GitHub</a:t>
            </a:r>
            <a:endParaRPr lang="en-US" sz="1200" dirty="0"/>
          </a:p>
        </p:txBody>
      </p:sp>
      <p:sp>
        <p:nvSpPr>
          <p:cNvPr id="47" name="Shape 41"/>
          <p:cNvSpPr/>
          <p:nvPr/>
        </p:nvSpPr>
        <p:spPr>
          <a:xfrm>
            <a:off x="9315450" y="43434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9315450" y="43434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Postman</a:t>
            </a:r>
            <a:endParaRPr lang="en-US" sz="1200" dirty="0"/>
          </a:p>
        </p:txBody>
      </p:sp>
      <p:sp>
        <p:nvSpPr>
          <p:cNvPr id="49" name="Shape 43"/>
          <p:cNvSpPr/>
          <p:nvPr/>
        </p:nvSpPr>
        <p:spPr>
          <a:xfrm>
            <a:off x="9315450" y="48006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9315450" y="48006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VS Code / IntelliJ</a:t>
            </a:r>
            <a:endParaRPr lang="en-US" sz="1200" dirty="0"/>
          </a:p>
        </p:txBody>
      </p:sp>
      <p:sp>
        <p:nvSpPr>
          <p:cNvPr id="51" name="Shape 45"/>
          <p:cNvSpPr/>
          <p:nvPr/>
        </p:nvSpPr>
        <p:spPr>
          <a:xfrm>
            <a:off x="9315450" y="5257800"/>
            <a:ext cx="2068830" cy="365760"/>
          </a:xfrm>
          <a:prstGeom prst="roundRect">
            <a:avLst>
              <a:gd name="adj" fmla="val 20000"/>
            </a:avLst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9315450" y="525780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32"/>
                </a:solidFill>
              </a:rPr>
              <a:t>Docker</a:t>
            </a:r>
            <a:endParaRPr lang="en-US" sz="1200" dirty="0"/>
          </a:p>
        </p:txBody>
      </p:sp>
      <p:sp>
        <p:nvSpPr>
          <p:cNvPr id="53" name="Text 47"/>
          <p:cNvSpPr/>
          <p:nvPr/>
        </p:nvSpPr>
        <p:spPr>
          <a:xfrm>
            <a:off x="50292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spc="300" kern="0" dirty="0">
                <a:solidFill>
                  <a:srgbClr val="D4A437"/>
                </a:solidFill>
              </a:rPr>
              <a:t>UN STACK MODERNE, MAINTENU, ET RECONNU PAR L'INDUSTRIE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37"/>
                </a:solidFill>
              </a:rPr>
              <a:t>05  |  ARCHITECTURE TECHNIQUE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502920" cy="6400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couches + microservice 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920240"/>
            <a:ext cx="3291840" cy="4572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437"/>
                </a:solidFill>
              </a:rPr>
              <a:t>PRÉSENTATION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60604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</a:rPr>
              <a:t>Angular 19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9436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SPA — Portails Admin / Client / Employé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4048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437"/>
                </a:solidFill>
              </a:rPr>
              <a:t>→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4434840" y="192024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4840" y="1920240"/>
            <a:ext cx="3291840" cy="4572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484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437"/>
                </a:solidFill>
              </a:rPr>
              <a:t>APPLICATION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606040"/>
            <a:ext cx="822960" cy="8229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772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</a:rPr>
              <a:t>Spring Boot 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1772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API REST — Sécurité JWT — Logique métier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86384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437"/>
                </a:solidFill>
              </a:rPr>
              <a:t>→</a:t>
            </a:r>
            <a:endParaRPr lang="en-US" sz="3600" dirty="0"/>
          </a:p>
        </p:txBody>
      </p:sp>
      <p:sp>
        <p:nvSpPr>
          <p:cNvPr id="19" name="Shape 15"/>
          <p:cNvSpPr/>
          <p:nvPr/>
        </p:nvSpPr>
        <p:spPr>
          <a:xfrm>
            <a:off x="8458200" y="192024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58200" y="1920240"/>
            <a:ext cx="3291840" cy="4572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458200" y="1920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4A437"/>
                </a:solidFill>
              </a:rPr>
              <a:t>DONNÉES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606040"/>
            <a:ext cx="822960" cy="8229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4108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</a:rPr>
              <a:t>MySQL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64108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</a:rPr>
              <a:t>Persistance ERP — tables relationnelles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8521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437"/>
                </a:solidFill>
              </a:rPr>
              <a:t>↓</a:t>
            </a:r>
            <a:endParaRPr lang="en-US" sz="3000" dirty="0"/>
          </a:p>
        </p:txBody>
      </p:sp>
      <p:sp>
        <p:nvSpPr>
          <p:cNvPr id="26" name="Shape 21"/>
          <p:cNvSpPr/>
          <p:nvPr/>
        </p:nvSpPr>
        <p:spPr>
          <a:xfrm>
            <a:off x="2286000" y="4846320"/>
            <a:ext cx="7589520" cy="12801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5120640"/>
            <a:ext cx="731520" cy="7315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474720" y="50292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437"/>
                </a:solidFill>
              </a:rPr>
              <a:t>MICROSERVICE IA (DÉCOUPLÉ)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474720" y="53035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Python FastAPI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3474720" y="57150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F6EE"/>
                </a:solidFill>
              </a:rPr>
              <a:t>Endpoint /predict — retourne les prévisions consommées par Spring Boot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37"/>
                </a:solidFill>
              </a:rPr>
              <a:t>06  |  MÉTHODOLOGIE SCRUM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502920" cy="6400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itératif, transparent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437"/>
                </a:solidFill>
              </a:rPr>
              <a:t>POURQUOI SCRUM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2194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Livraisons incrémentales, feedback rapide du métier, adaptation continue aux besoins ERP + IA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78892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F1B2D"/>
                </a:solidFill>
              </a:rPr>
              <a:t>RÔLES &amp; ARTEFACTS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3291840"/>
            <a:ext cx="457200" cy="4572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3675888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566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Product Owner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040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Encadrant + responsable Dind'Or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" y="4114800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4005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Scrum Master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0" y="4005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Étudiante — facilitatrice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" y="4553712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44439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Équipe Dev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00400" y="44439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Étudiante — dev fullstack + IA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4992624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4882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Product Backlog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00400" y="48828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User stories priorisées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22960" y="5431536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1560" y="5321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Sprint Backlog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00400" y="5321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Sélection pour chaque sprint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22960" y="5870448"/>
            <a:ext cx="128016" cy="128016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51560" y="5760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</a:rPr>
              <a:t>Rituels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200400" y="5760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Daily · Sprint Review · Rétro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72200" y="2788920"/>
            <a:ext cx="5486400" cy="36576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446520" y="2926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4A437"/>
                </a:solidFill>
              </a:rPr>
              <a:t>DÉCOUPAGE EN SPRINTS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46520" y="3291840"/>
            <a:ext cx="457200" cy="4572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46520" y="3657600"/>
            <a:ext cx="73152" cy="22860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2940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437"/>
                </a:solidFill>
              </a:rPr>
              <a:t>Sprint 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77240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E"/>
                </a:solidFill>
              </a:rPr>
              <a:t>Cadrage, spécifications, maquettes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46520" y="4096512"/>
            <a:ext cx="73152" cy="22860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29400" y="40050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437"/>
                </a:solidFill>
              </a:rPr>
              <a:t>Sprint 1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772400" y="4005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E"/>
                </a:solidFill>
              </a:rPr>
              <a:t>Auth JWT + module Achats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446520" y="4535424"/>
            <a:ext cx="73152" cy="22860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29400" y="44439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437"/>
                </a:solidFill>
              </a:rPr>
              <a:t>Sprint 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772400" y="44439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E"/>
                </a:solidFill>
              </a:rPr>
              <a:t>Ventes + Stock + Trésorerie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46520" y="4974336"/>
            <a:ext cx="73152" cy="22860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29400" y="4882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437"/>
                </a:solidFill>
              </a:rPr>
              <a:t>Sprint 3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772400" y="48828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E"/>
                </a:solidFill>
              </a:rPr>
              <a:t>RH + Portail Client/Employé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46520" y="5413248"/>
            <a:ext cx="73152" cy="22860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29400" y="5321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437"/>
                </a:solidFill>
              </a:rPr>
              <a:t>Sprint 4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7772400" y="5321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E"/>
                </a:solidFill>
              </a:rPr>
              <a:t>Microservice IA + dashboard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446520" y="5852160"/>
            <a:ext cx="73152" cy="22860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29400" y="5760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437"/>
                </a:solidFill>
              </a:rPr>
              <a:t>Sprint 5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7772400" y="5760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E"/>
                </a:solidFill>
              </a:rPr>
              <a:t>Tests, déploiement, recette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37"/>
                </a:solidFill>
              </a:rPr>
              <a:t>07  |  DIAGRAMME DE CAS D'UTILISATION GLOBAL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502920" cy="64008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Acteurs, fonctionnalités et flux d'authentification</a:t>
            </a:r>
            <a:endParaRPr lang="en-US" sz="3200" dirty="0"/>
          </a:p>
        </p:txBody>
      </p:sp>
      <p:pic>
        <p:nvPicPr>
          <p:cNvPr id="5" name="Image 0" descr="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786384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783080"/>
            <a:ext cx="3108960" cy="4663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437"/>
                </a:solidFill>
              </a:rPr>
              <a:t>LECTURE DU DIAGRAMME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778240" y="2286000"/>
            <a:ext cx="457200" cy="4572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2624328"/>
            <a:ext cx="164592" cy="164592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06840" y="2542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 acteurs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006840" y="2834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AF6EE"/>
                </a:solidFill>
              </a:rPr>
              <a:t>Administrateur (rôle complet) et Employé (libre-service)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778240" y="3538728"/>
            <a:ext cx="164592" cy="164592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06840" y="3456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14 cas d'usage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006840" y="3749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AF6EE"/>
                </a:solidFill>
              </a:rPr>
              <a:t>12 cas Admin + 2 cas Employé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778240" y="4453128"/>
            <a:ext cx="164592" cy="164592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6840" y="4370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Authentification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006840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AF6EE"/>
                </a:solidFill>
              </a:rPr>
              <a:t>Cas inclus («include») par tous les autres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778240" y="5367528"/>
            <a:ext cx="164592" cy="164592"/>
          </a:xfrm>
          <a:prstGeom prst="ellipse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06840" y="5285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Couverture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006840" y="5577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AF6EE"/>
                </a:solidFill>
              </a:rPr>
              <a:t>Achats, ventes, stock, RH, IA, dashboard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D4A437">
              <a:alpha val="12000"/>
            </a:srgbClr>
          </a:solidFill>
          <a:ln w="12700">
            <a:solidFill>
              <a:srgbClr val="D4A43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502920"/>
            <a:ext cx="182880" cy="18288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437"/>
                </a:solidFill>
              </a:rPr>
              <a:t>08  |  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 projet à forte valeur ajoutée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731520" cy="54864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94560"/>
            <a:ext cx="3535680" cy="1828800"/>
          </a:xfrm>
          <a:prstGeom prst="rect">
            <a:avLst/>
          </a:prstGeom>
          <a:solidFill>
            <a:srgbClr val="081220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94560"/>
            <a:ext cx="3535680" cy="73152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D4A437"/>
                </a:solidFill>
              </a:rPr>
              <a:t>100%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Opérations digitalisées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6EE"/>
                </a:solidFill>
              </a:rPr>
              <a:t>Achats, ventes, stock, RH centralisés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2920" y="2194560"/>
            <a:ext cx="3535680" cy="1828800"/>
          </a:xfrm>
          <a:prstGeom prst="rect">
            <a:avLst/>
          </a:prstGeom>
          <a:solidFill>
            <a:srgbClr val="081220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800" y="2423160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D4A437"/>
                </a:solidFill>
              </a:rPr>
              <a:t>7-30 j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495800" y="324612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Anticipation des prix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95800" y="356616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6EE"/>
                </a:solidFill>
              </a:rPr>
              <a:t>Prédictions multi-horizons par l'IA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2920" y="2194560"/>
            <a:ext cx="3535680" cy="1828800"/>
          </a:xfrm>
          <a:prstGeom prst="rect">
            <a:avLst/>
          </a:prstGeom>
          <a:solidFill>
            <a:srgbClr val="081220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2920" y="2194560"/>
            <a:ext cx="3535680" cy="73152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5800" y="2423160"/>
            <a:ext cx="316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D4A437"/>
                </a:solidFill>
              </a:rPr>
              <a:t>12K+ DT</a:t>
            </a:r>
            <a:endParaRPr lang="en-US" sz="5000" dirty="0"/>
          </a:p>
        </p:txBody>
      </p:sp>
      <p:sp>
        <p:nvSpPr>
          <p:cNvPr id="20" name="Text 18"/>
          <p:cNvSpPr/>
          <p:nvPr/>
        </p:nvSpPr>
        <p:spPr>
          <a:xfrm>
            <a:off x="8305800" y="3246120"/>
            <a:ext cx="316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Marge récupérée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5800" y="356616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6EE"/>
                </a:solidFill>
              </a:rPr>
              <a:t>Gain annuel estimé grâce à l'IA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297680"/>
            <a:ext cx="11155680" cy="1280160"/>
          </a:xfrm>
          <a:prstGeom prst="rect">
            <a:avLst/>
          </a:prstGeom>
          <a:solidFill>
            <a:srgbClr val="081220"/>
          </a:solidFill>
          <a:ln w="12700">
            <a:solidFill>
              <a:srgbClr val="0812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297680"/>
            <a:ext cx="73152" cy="1280160"/>
          </a:xfrm>
          <a:prstGeom prst="rect">
            <a:avLst/>
          </a:prstGeom>
          <a:solidFill>
            <a:srgbClr val="D4A437"/>
          </a:solidFill>
          <a:ln w="12700">
            <a:solidFill>
              <a:srgbClr val="D4A437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0"/>
            <a:ext cx="502920" cy="5029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3716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437"/>
                </a:solidFill>
              </a:rPr>
              <a:t>PERSPECTIVES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371600" y="48006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AF6EE"/>
                </a:solidFill>
              </a:rPr>
              <a:t>Application mobile  ·  Module CRM avancé  ·  Prédictions multi-produits  ·  Tableau de bord BI temps réel  ·  Intégration paiement en ligne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" y="6080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spc="300" kern="0" dirty="0">
                <a:solidFill>
                  <a:srgbClr val="D4A437"/>
                </a:solidFill>
              </a:rPr>
              <a:t>MERCI POUR VOTRE ATTENTION  —  QUESTIONS 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Dind'Or ERP + IA — Soutenance technique</dc:title>
  <dc:subject>PptxGenJS Presentation</dc:subject>
  <dc:creator>Hadil</dc:creator>
  <cp:lastModifiedBy>Hadil</cp:lastModifiedBy>
  <cp:revision>1</cp:revision>
  <dcterms:created xsi:type="dcterms:W3CDTF">2026-05-12T17:59:14Z</dcterms:created>
  <dcterms:modified xsi:type="dcterms:W3CDTF">2026-05-12T17:59:14Z</dcterms:modified>
</cp:coreProperties>
</file>